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6"/>
  </p:notesMasterIdLst>
  <p:handoutMasterIdLst>
    <p:handoutMasterId r:id="rId7"/>
  </p:handoutMasterIdLst>
  <p:sldIdLst>
    <p:sldId id="8880" r:id="rId5"/>
  </p:sldIdLst>
  <p:sldSz cx="12192000" cy="6858000"/>
  <p:notesSz cx="6950075" cy="9236075"/>
  <p:custDataLst>
    <p:tags r:id="rId8"/>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E189EC-10D0-F876-0321-6E26D67990E2}" name="Felipe Veiga" initials="FV" userId="S::felipe.bveiga@xpi.com.br::29d82955-035a-46d2-8c02-fc4125ffa59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B3DF"/>
    <a:srgbClr val="3F3F3F"/>
    <a:srgbClr val="7E7E7E"/>
    <a:srgbClr val="162130"/>
    <a:srgbClr val="323436"/>
    <a:srgbClr val="323440"/>
    <a:srgbClr val="000000"/>
    <a:srgbClr val="1F2F44"/>
    <a:srgbClr val="A5A5A5"/>
    <a:srgbClr val="181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73" autoAdjust="0"/>
    <p:restoredTop sz="87280" autoAdjust="0"/>
  </p:normalViewPr>
  <p:slideViewPr>
    <p:cSldViewPr snapToGrid="0">
      <p:cViewPr varScale="1">
        <p:scale>
          <a:sx n="111" d="100"/>
          <a:sy n="111" d="100"/>
        </p:scale>
        <p:origin x="762" y="96"/>
      </p:cViewPr>
      <p:guideLst>
        <p:guide pos="3840"/>
        <p:guide orient="horz" pos="3634"/>
      </p:guideLst>
    </p:cSldViewPr>
  </p:slideViewPr>
  <p:outlineViewPr>
    <p:cViewPr>
      <p:scale>
        <a:sx n="33" d="100"/>
        <a:sy n="33" d="100"/>
      </p:scale>
      <p:origin x="0" y="-13122"/>
    </p:cViewPr>
  </p:outlineViewPr>
  <p:notesTextViewPr>
    <p:cViewPr>
      <p:scale>
        <a:sx n="75" d="100"/>
        <a:sy n="75" d="100"/>
      </p:scale>
      <p:origin x="0" y="0"/>
    </p:cViewPr>
  </p:notesTextViewPr>
  <p:sorterViewPr>
    <p:cViewPr varScale="1">
      <p:scale>
        <a:sx n="1" d="1"/>
        <a:sy n="1" d="1"/>
      </p:scale>
      <p:origin x="0" y="0"/>
    </p:cViewPr>
  </p:sorterViewPr>
  <p:notesViewPr>
    <p:cSldViewPr snapToGrid="0">
      <p:cViewPr varScale="1">
        <p:scale>
          <a:sx n="90" d="100"/>
          <a:sy n="90" d="100"/>
        </p:scale>
        <p:origin x="3750" y="72"/>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handoutMaster" Target="handoutMasters/handoutMaster1.xml"/><Relationship Id="rId8" Type="http://schemas.openxmlformats.org/officeDocument/2006/relationships/tags" Target="tags/tag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11/09/2026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11/09/2026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1</a:t>
            </a:fld>
            <a:endParaRPr lang="pt-BR" dirty="0"/>
          </a:p>
        </p:txBody>
      </p:sp>
    </p:spTree>
    <p:extLst>
      <p:ext uri="{BB962C8B-B14F-4D97-AF65-F5344CB8AC3E}">
        <p14:creationId xmlns:p14="http://schemas.microsoft.com/office/powerpoint/2010/main" val="911849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3146097"/>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66D3E781-3793-47C9-8B96-6546088D93A0}" type="datetime4">
              <a:rPr lang="pt-BR" smtClean="0"/>
              <a:t>11 de setembro de 2026</a:t>
            </a:fld>
            <a:endParaRPr lang="en-US" dirty="0"/>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4902200"/>
            <a:ext cx="9131274" cy="111918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21636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86AD2913-6D29-45E3-868C-D98C44266992}" type="datetime4">
              <a:rPr lang="pt-BR" smtClean="0"/>
              <a:t>11 de setembro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04090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BFF34544-50A2-4554-9BF2-84CA6992E269}" type="datetime4">
              <a:rPr lang="pt-BR" smtClean="0"/>
              <a:t>11 de setembro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3CAD6DCD-FF15-4246-8F41-0D983B243EAB}" type="datetime4">
              <a:rPr lang="pt-BR" smtClean="0"/>
              <a:t>11 de setembro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40F9FF0A-D88D-45F0-A289-9ACA20C549D4}" type="datetime4">
              <a:rPr lang="pt-BR" smtClean="0"/>
              <a:t>11 de setembro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F5FCE92-5737-4540-AED2-8F3FD8941C7E}" type="datetime4">
              <a:rPr lang="pt-BR" smtClean="0"/>
              <a:t>11 de setembro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E2EA8DF-C8F8-4243-B9E4-D59FA2438813}" type="datetime4">
              <a:rPr lang="pt-BR" smtClean="0"/>
              <a:t>11 de setembro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23CB894-DE94-44B5-8952-3F1D1BE066A6}" type="datetime4">
              <a:rPr lang="pt-BR" smtClean="0"/>
              <a:t>11 de setembro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CD14B11-E772-41E7-A630-B06727EF9E17}" type="datetime4">
              <a:rPr lang="pt-BR" smtClean="0"/>
              <a:t>11 de setembro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64057D5A-61DD-41CE-A04E-582531C7FF10}" type="datetime4">
              <a:rPr lang="pt-BR" smtClean="0"/>
              <a:t>11 de setembro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625B114D-07A6-4930-8499-69CD4C1D65FE}" type="datetime4">
              <a:rPr lang="pt-BR" smtClean="0"/>
              <a:t>11 de setembro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0E852D74-F930-4BE1-A0A3-B85328D2C305}" type="datetime4">
              <a:rPr lang="pt-BR" smtClean="0"/>
              <a:t>11 de setembro de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1D53D0A3-5979-4462-9D2C-D90A35EE0E41}" type="datetime4">
              <a:rPr lang="pt-BR" smtClean="0"/>
              <a:t>11 de setembro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27/2721,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27/2721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16/2721,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27272.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XP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200">
                <a:solidFill>
                  <a:schemeClr val="tx2"/>
                </a:solidFill>
                <a:latin typeface="+mn-lt"/>
                <a:ea typeface="Roboto Slab Medium" pitchFamily="2" charset="0"/>
                <a:cs typeface="Roboto" panose="02000000000000000000" pitchFamily="2" charset="0"/>
              </a:defRPr>
            </a:lvl1pPr>
          </a:lstStyle>
          <a:p>
            <a:fld id="{7A0DFDED-4028-4CF3-8A12-7A2839B0F8BB}" type="datetime4">
              <a:rPr lang="pt-BR" smtClean="0"/>
              <a:t>11 de setembro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err="1"/>
              <a:t>Estratégia</a:t>
            </a:r>
            <a:r>
              <a:rPr lang="en-US" dirty="0"/>
              <a:t> de </a:t>
            </a:r>
            <a:r>
              <a:rPr lang="en-US" dirty="0" err="1"/>
              <a:t>ações</a:t>
            </a:r>
            <a:endParaRPr lang="en-US" dirty="0"/>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47" r:id="rId2"/>
    <p:sldLayoutId id="2147483948" r:id="rId3"/>
    <p:sldLayoutId id="2147483949" r:id="rId4"/>
    <p:sldLayoutId id="2147483950" r:id="rId5"/>
    <p:sldLayoutId id="2147483951" r:id="rId6"/>
    <p:sldLayoutId id="2147483918" r:id="rId7"/>
    <p:sldLayoutId id="2147483920" r:id="rId8"/>
    <p:sldLayoutId id="2147483941" r:id="rId9"/>
    <p:sldLayoutId id="2147483944" r:id="rId10"/>
    <p:sldLayoutId id="2147483942" r:id="rId11"/>
    <p:sldLayoutId id="2147483943" r:id="rId12"/>
    <p:sldLayoutId id="2147483893" r:id="rId13"/>
    <p:sldLayoutId id="2147483952" r:id="rId14"/>
    <p:sldLayoutId id="2147483946" r:id="rId15"/>
    <p:sldLayoutId id="2147483916" r:id="rId16"/>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9.xml"/><Relationship Id="rId3" Type="http://schemas.openxmlformats.org/officeDocument/2006/relationships/notesSlide" Target="../notesSlides/notesSlide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2">
            <a:extLst>
              <a:ext uri="{FF2B5EF4-FFF2-40B4-BE49-F238E27FC236}">
                <a16:creationId xmlns:a16="http://schemas.microsoft.com/office/drawing/2014/main" id="{8E92342A-B52D-7F07-345C-B2D1BB37C740}"/>
              </a:ext>
            </a:extLst>
          </p:cNvPr>
          <p:cNvPicPr>
            <a:picLocks noChangeAspect="1"/>
          </p:cNvPicPr>
          <p:nvPr/>
        </p:nvPicPr>
        <p:blipFill>
          <a:blip r:embed="rId4">
            <a:alphaModFix amt="10000"/>
          </a:blip>
          <a:stretch>
            <a:fillRect/>
          </a:stretch>
        </p:blipFill>
        <p:spPr>
          <a:xfrm>
            <a:off x="4252913" y="4341385"/>
            <a:ext cx="3713728" cy="451021"/>
          </a:xfrm>
          <a:prstGeom prst="rect">
            <a:avLst/>
          </a:prstGeom>
        </p:spPr>
      </p:pic>
      <p:graphicFrame>
        <p:nvGraphicFramePr>
          <p:cNvPr id="5" name="Table 26">
            <a:extLst>
              <a:ext uri="{FF2B5EF4-FFF2-40B4-BE49-F238E27FC236}">
                <a16:creationId xmlns:a16="http://schemas.microsoft.com/office/drawing/2014/main" id="{CD2A42A9-D31F-1A68-3647-BCF96652959E}"/>
              </a:ext>
            </a:extLst>
          </p:cNvPr>
          <p:cNvGraphicFramePr>
            <a:graphicFrameLocks noGrp="1"/>
          </p:cNvGraphicFramePr>
          <p:nvPr>
            <p:custDataLst>
              <p:tags r:id="rId1"/>
            </p:custDataLst>
            <p:extLst>
              <p:ext uri="{D42A27DB-BD31-4B8C-83A1-F6EECF244321}">
                <p14:modId xmlns:p14="http://schemas.microsoft.com/office/powerpoint/2010/main" val="2575514143"/>
              </p:ext>
            </p:extLst>
          </p:nvPr>
        </p:nvGraphicFramePr>
        <p:xfrm>
          <a:off x="335999" y="3038866"/>
          <a:ext cx="11632680" cy="3105121"/>
        </p:xfrm>
        <a:graphic>
          <a:graphicData uri="http://schemas.openxmlformats.org/drawingml/2006/table">
            <a:tbl>
              <a:tblPr firstRow="1" bandRow="1">
                <a:tableStyleId>{69012ECD-51FC-41F1-AA8D-1B2483CD663E}</a:tableStyleId>
              </a:tblPr>
              <a:tblGrid>
                <a:gridCol w="2326536">
                  <a:extLst>
                    <a:ext uri="{9D8B030D-6E8A-4147-A177-3AD203B41FA5}">
                      <a16:colId xmlns:a16="http://schemas.microsoft.com/office/drawing/2014/main" val="3360122001"/>
                    </a:ext>
                  </a:extLst>
                </a:gridCol>
                <a:gridCol w="2326536">
                  <a:extLst>
                    <a:ext uri="{9D8B030D-6E8A-4147-A177-3AD203B41FA5}">
                      <a16:colId xmlns:a16="http://schemas.microsoft.com/office/drawing/2014/main" val="2141681432"/>
                    </a:ext>
                  </a:extLst>
                </a:gridCol>
                <a:gridCol w="2326536">
                  <a:extLst>
                    <a:ext uri="{9D8B030D-6E8A-4147-A177-3AD203B41FA5}">
                      <a16:colId xmlns:a16="http://schemas.microsoft.com/office/drawing/2014/main" val="1959092975"/>
                    </a:ext>
                  </a:extLst>
                </a:gridCol>
                <a:gridCol w="2326536">
                  <a:extLst>
                    <a:ext uri="{9D8B030D-6E8A-4147-A177-3AD203B41FA5}">
                      <a16:colId xmlns:a16="http://schemas.microsoft.com/office/drawing/2014/main" val="3279023917"/>
                    </a:ext>
                  </a:extLst>
                </a:gridCol>
                <a:gridCol w="2326536">
                  <a:extLst>
                    <a:ext uri="{9D8B030D-6E8A-4147-A177-3AD203B41FA5}">
                      <a16:colId xmlns:a16="http://schemas.microsoft.com/office/drawing/2014/main" val="3779119269"/>
                    </a:ext>
                  </a:extLst>
                </a:gridCol>
              </a:tblGrid>
              <a:tr h="182332">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Segunda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Terça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Quarta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Quinta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mj-lt"/>
                          <a:ea typeface="+mn-ea"/>
                          <a:cs typeface="+mn-cs"/>
                        </a:rPr>
                        <a:t>Sexta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2130"/>
                    </a:solidFill>
                  </a:tcPr>
                </a:tc>
                <a:extLst>
                  <a:ext uri="{0D108BD9-81ED-4DB2-BD59-A6C34878D82A}">
                    <a16:rowId xmlns:a16="http://schemas.microsoft.com/office/drawing/2014/main" val="2213003835"/>
                  </a:ext>
                </a:extLst>
              </a:tr>
              <a:tr h="2861281">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Brasil: Boletim Focus</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China: LPR 1 ano; LPR 5 anos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ADP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Zona do Euro: PMI Industrial; PMI Serviços (set)</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Reino Unido: PMI Industrial; PMI Serviços (set)</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PMI Industrial; PMI Serviços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Zona do Euro: Boletim BCE</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Jobless Claims (semanal)</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Japão: PMI Serviços (set)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Reino Unido: Discurso do Governador do BoE (Bailey)</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Pedidos de Bens Duráveis (ago)</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buChar char="•"/>
                        <a:tabLst/>
                        <a:defRPr/>
                      </a:pPr>
                      <a:r>
                        <a:rPr lang="pt-BR" sz="1000" b="0" kern="1200" noProof="0" dirty="0">
                          <a:solidFill>
                            <a:schemeClr val="tx1"/>
                          </a:solidFill>
                          <a:latin typeface="+mn-lt"/>
                          <a:ea typeface="+mn-ea"/>
                          <a:cs typeface="+mn-cs"/>
                        </a:rPr>
                        <a:t>EUA: Michigan - Sentimento do Consumidor (set)</a:t>
                      </a:r>
                    </a:p>
                    <a:p>
                      <a:pPr marL="171450" marR="0" lvl="0" indent="-171450" algn="l" defTabSz="685808" rtl="0" eaLnBrk="1" fontAlgn="auto" latinLnBrk="0" hangingPunct="1">
                        <a:lnSpc>
                          <a:spcPct val="120000"/>
                        </a:lnSpc>
                        <a:spcBef>
                          <a:spcPts val="600"/>
                        </a:spcBef>
                        <a:spcAft>
                          <a:spcPts val="0"/>
                        </a:spcAft>
                        <a:buClrTx/>
                        <a:buSzTx/>
                        <a:buFont typeface="Arial" panose="020B0604020202020204" pitchFamily="34" charset="0"/>
                        <a:tabLst/>
                        <a:defRPr/>
                        <a:buNone/>
                      </a:pPr>
                    </a:p>
                    <a:p>
                      <a:pPr marL="0" marR="0" lvl="0" indent="0" algn="ctr" defTabSz="685808" rtl="0" eaLnBrk="1" fontAlgn="auto" latinLnBrk="0" hangingPunct="1">
                        <a:lnSpc>
                          <a:spcPct val="120000"/>
                        </a:lnSpc>
                        <a:spcBef>
                          <a:spcPts val="600"/>
                        </a:spcBef>
                        <a:spcAft>
                          <a:spcPts val="0"/>
                        </a:spcAft>
                        <a:buClrTx/>
                        <a:buSzTx/>
                        <a:buFont typeface="Arial" panose="020B0604020202020204" pitchFamily="34" charset="0"/>
                        <a:buNone/>
                        <a:tabLst/>
                        <a:defRPr/>
                      </a:pPr>
                      <a:r>
                        <a:rPr lang="pt-BR" sz="1000" b="1" kern="1200" noProof="0" dirty="0">
                          <a:solidFill>
                            <a:schemeClr val="tx1"/>
                          </a:solidFill>
                          <a:latin typeface="+mn-lt"/>
                          <a:ea typeface="+mn-ea"/>
                          <a:cs typeface="+mn-cs"/>
                        </a:rPr>
                        <a:t>Feriado na China (Festival do Meio Outono).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2890459"/>
                  </a:ext>
                </a:extLst>
              </a:tr>
            </a:tbl>
          </a:graphicData>
        </a:graphic>
      </p:graphicFrame>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a:xfrm>
            <a:off x="788194" y="6311730"/>
            <a:ext cx="9901004" cy="357357"/>
          </a:xfrm>
        </p:spPr>
        <p:txBody>
          <a:bodyPr/>
          <a:lstStyle/>
          <a:p>
            <a:r>
              <a:rPr lang="pt-BR" noProof="0" dirty="0"/>
              <a:t>Fonte: XP Research.</a:t>
            </a:r>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35999" y="1160463"/>
            <a:ext cx="11518900" cy="1789378"/>
          </a:xfrm>
        </p:spPr>
        <p:txBody>
          <a:bodyPr anchor="ctr"/>
          <a:lstStyle/>
          <a:p>
            <a:endParaRPr lang="en-US" dirty="0"/>
          </a:p>
        </p:txBody>
      </p:sp>
      <p:sp>
        <p:nvSpPr>
          <p:cNvPr id="11" name="Text Placeholder 10">
            <a:extLst>
              <a:ext uri="{FF2B5EF4-FFF2-40B4-BE49-F238E27FC236}">
                <a16:creationId xmlns:a16="http://schemas.microsoft.com/office/drawing/2014/main" id="{BC4B4D41-BD71-4F1B-A14D-05830255DC89}"/>
              </a:ext>
            </a:extLst>
          </p:cNvPr>
          <p:cNvSpPr>
            <a:spLocks noGrp="1"/>
          </p:cNvSpPr>
          <p:nvPr>
            <p:ph type="body" sz="quarter" idx="16"/>
          </p:nvPr>
        </p:nvSpPr>
        <p:spPr/>
        <p:txBody>
          <a:bodyPr/>
          <a:lstStyle/>
          <a:p>
            <a:r>
              <a:rPr lang="pt-BR" noProof="0" dirty="0"/>
              <a:t>O que esperar para semana que vem?</a:t>
            </a:r>
          </a:p>
        </p:txBody>
      </p:sp>
      <p:sp>
        <p:nvSpPr>
          <p:cNvPr id="12" name="Text Placeholder 11">
            <a:extLst>
              <a:ext uri="{FF2B5EF4-FFF2-40B4-BE49-F238E27FC236}">
                <a16:creationId xmlns:a16="http://schemas.microsoft.com/office/drawing/2014/main" id="{7E8D88E6-C0F3-4865-BBF1-545C12EF3660}"/>
              </a:ext>
            </a:extLst>
          </p:cNvPr>
          <p:cNvSpPr>
            <a:spLocks noGrp="1"/>
          </p:cNvSpPr>
          <p:nvPr>
            <p:ph type="body" sz="quarter" idx="17"/>
          </p:nvPr>
        </p:nvSpPr>
        <p:spPr/>
        <p:txBody>
          <a:bodyPr/>
          <a:lstStyle/>
          <a:p>
            <a:r>
              <a:rPr lang="pt-BR" noProof="0" dirty="0"/>
              <a:t>Para a Semana de 21 a 25 de setembro</a:t>
            </a:r>
          </a:p>
        </p:txBody>
      </p:sp>
      <p:sp>
        <p:nvSpPr>
          <p:cNvPr id="13" name="Date Placeholder 12">
            <a:extLst>
              <a:ext uri="{FF2B5EF4-FFF2-40B4-BE49-F238E27FC236}">
                <a16:creationId xmlns:a16="http://schemas.microsoft.com/office/drawing/2014/main" id="{3A753C05-1A33-464E-BAEE-6D30BF729186}"/>
              </a:ext>
            </a:extLst>
          </p:cNvPr>
          <p:cNvSpPr>
            <a:spLocks noGrp="1"/>
          </p:cNvSpPr>
          <p:nvPr>
            <p:ph type="dt" sz="half" idx="2"/>
          </p:nvPr>
        </p:nvSpPr>
        <p:spPr/>
        <p:txBody>
          <a:bodyPr/>
          <a:lstStyle/>
          <a:p>
            <a:fld id="{BC4164C3-5437-4A07-97D2-805618195F9C}" type="datetime4">
              <a:rPr lang="pt-BR" noProof="0" smtClean="0"/>
              <a:t>11 de setembro de 2026</a:t>
            </a:fld>
            <a:endParaRPr lang="pt-BR" noProof="0" dirty="0"/>
          </a:p>
        </p:txBody>
      </p:sp>
    </p:spTree>
    <p:extLst>
      <p:ext uri="{BB962C8B-B14F-4D97-AF65-F5344CB8AC3E}">
        <p14:creationId xmlns:p14="http://schemas.microsoft.com/office/powerpoint/2010/main" val="21476854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1DFE75-644F-4655-9AAB-1BA51DEA2D18}">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dcmitype/"/>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C14C19-827A-43CC-840A-25F83CDFFAAA}">
  <ds:schemaRefs>
    <ds:schemaRef ds:uri="http://schemas.microsoft.com/sharepoint/v3/contenttype/forms"/>
  </ds:schemaRefs>
</ds:datastoreItem>
</file>

<file path=docMetadata/LabelInfo.xml><?xml version="1.0" encoding="utf-8"?>
<clbl:labelList xmlns:clbl="http://schemas.microsoft.com/office/2020/mipLabelMetadata">
  <clbl:label id="{e6a9157b-bcf3-4eac-b03e-7cf007ba9fdf}" enabled="1" method="Standar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
  <TotalTime>118681</TotalTime>
  <Words>307</Words>
  <Application>Microsoft Office PowerPoint</Application>
  <PresentationFormat>Widescreen</PresentationFormat>
  <Paragraphs>25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Roboto</vt:lpstr>
      <vt:lpstr>Roboto Light</vt:lpstr>
      <vt:lpstr>3_Template DGA 16-9</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Wrap Semanal</dc:title>
  <dc:creator>Pedro Urbinati</dc:creator>
  <cp:lastModifiedBy>Arthur Magno</cp:lastModifiedBy>
  <cp:revision>5518</cp:revision>
  <cp:lastPrinted>2019-11-05T18:41:12Z</cp:lastPrinted>
  <dcterms:created xsi:type="dcterms:W3CDTF">2016-08-23T12:44:29Z</dcterms:created>
  <dcterms:modified xsi:type="dcterms:W3CDTF">2026-09-11T16:34:45Z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MSIP_Label_e6a9157b-bcf3-4eac-b03e-7cf007ba9fdf_Enabled">
    <vt:lpwstr>true</vt:lpwstr>
  </property>
  <property fmtid="{D5CDD505-2E9C-101B-9397-08002B2CF9AE}" pid="4" name="MSIP_Label_e6a9157b-bcf3-4eac-b03e-7cf007ba9fdf_SetDate">
    <vt:lpwstr>2024-04-19T18:25:04Z</vt:lpwstr>
  </property>
  <property fmtid="{D5CDD505-2E9C-101B-9397-08002B2CF9AE}" pid="5" name="MSIP_Label_e6a9157b-bcf3-4eac-b03e-7cf007ba9fdf_Method">
    <vt:lpwstr>Standard</vt:lpwstr>
  </property>
  <property fmtid="{D5CDD505-2E9C-101B-9397-08002B2CF9AE}" pid="6" name="MSIP_Label_e6a9157b-bcf3-4eac-b03e-7cf007ba9fdf_Name">
    <vt:lpwstr>Publica</vt:lpwstr>
  </property>
  <property fmtid="{D5CDD505-2E9C-101B-9397-08002B2CF9AE}" pid="7" name="MSIP_Label_e6a9157b-bcf3-4eac-b03e-7cf007ba9fdf_SiteId">
    <vt:lpwstr>cf56e405-d2b0-4266-b210-aa04636b6161</vt:lpwstr>
  </property>
  <property fmtid="{D5CDD505-2E9C-101B-9397-08002B2CF9AE}" pid="8" name="MSIP_Label_e6a9157b-bcf3-4eac-b03e-7cf007ba9fdf_ActionId">
    <vt:lpwstr>d876ed2e-3bc1-4fac-8950-bed90f68862c</vt:lpwstr>
  </property>
  <property fmtid="{D5CDD505-2E9C-101B-9397-08002B2CF9AE}" pid="9" name="MSIP_Label_e6a9157b-bcf3-4eac-b03e-7cf007ba9fdf_ContentBits">
    <vt:lpwstr>2</vt:lpwstr>
  </property>
  <property fmtid="{D5CDD505-2E9C-101B-9397-08002B2CF9AE}" pid="10" name="ClassificationContentMarkingFooterLocations">
    <vt:lpwstr>3_Template DGA 16-9:4</vt:lpwstr>
  </property>
  <property fmtid="{D5CDD505-2E9C-101B-9397-08002B2CF9AE}" pid="11" name="ClassificationContentMarkingFooterText">
    <vt:lpwstr>[ CLASSIFICAÇÃO: PÚBLICA ]</vt:lpwstr>
  </property>
</Properties>
</file>